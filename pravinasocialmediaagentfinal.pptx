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17"/>
  </p:notesMasterIdLst>
  <p:sldIdLst>
    <p:sldId id="283" r:id="rId2"/>
    <p:sldId id="257" r:id="rId3"/>
    <p:sldId id="282" r:id="rId4"/>
    <p:sldId id="285" r:id="rId5"/>
    <p:sldId id="278" r:id="rId6"/>
    <p:sldId id="281" r:id="rId7"/>
    <p:sldId id="279" r:id="rId8"/>
    <p:sldId id="262" r:id="rId9"/>
    <p:sldId id="264" r:id="rId10"/>
    <p:sldId id="286" r:id="rId11"/>
    <p:sldId id="287" r:id="rId12"/>
    <p:sldId id="280" r:id="rId13"/>
    <p:sldId id="288" r:id="rId14"/>
    <p:sldId id="289" r:id="rId15"/>
    <p:sldId id="276" r:id="rId16"/>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27" roundtripDataSignature="AMtx7mjt3491jQ7aCoyIz2WXeHKroE7tp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037A25B-DA5D-A37C-3B36-7F0977405ABF}" v="154" dt="2026-06-19T05:59:42.731"/>
    <p1510:client id="{088AD18C-7811-B1E2-9ED5-57A1A5542DF6}" v="456" dt="2026-06-19T06:28:44.546"/>
    <p1510:client id="{A6B9108B-7598-1D50-C4AA-8A38026DAEEF}" v="18" dt="2026-06-19T06:56:18.840"/>
    <p1510:client id="{E27D249D-B118-0810-7731-E1B1C378D9D3}" v="5" dt="2026-06-19T09:10:10.538"/>
  </p1510:revLst>
</p1510:revInfo>
</file>

<file path=ppt/tableStyles.xml><?xml version="1.0" encoding="utf-8"?>
<a:tblStyleLst xmlns:a="http://schemas.openxmlformats.org/drawingml/2006/main" def="{0AAD8F4D-43EB-41E5-8A38-28AB6DFB1B60}">
  <a:tblStyle styleId="{0AAD8F4D-43EB-41E5-8A38-28AB6DFB1B60}"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850"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32"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8" Type="http://schemas.openxmlformats.org/officeDocument/2006/relationships/presProps" Target="presProps.xml"/><Relationship Id="rId10" Type="http://schemas.openxmlformats.org/officeDocument/2006/relationships/slide" Target="slides/slide9.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7" Type="http://customschemas.google.com/relationships/presentationmetadata" Target="metadata"/><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9" name="Google Shape;89;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48C2B95B-FB15-C156-6AF1-35B35818164E}"/>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770A13E9-BC77-63DA-E106-A3FA8022811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29067B0F-2F4F-7081-A661-0AE31BFBB78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055410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E37D20EF-0791-5303-F96E-0F0C1B50B73D}"/>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9DCBA8EB-6D71-7B5E-841C-4BFFBDA5F1B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5C2CD162-5BE5-06C8-E06C-B4A49D4BCFF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3135405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11626E4B-E119-2382-6F8F-518641144E90}"/>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01A6FF9F-971F-6CD8-61F5-25638A5985F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C8EB5C80-6A4B-AE05-9BE0-03B5AF5C22A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8273657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a:extLst>
            <a:ext uri="{FF2B5EF4-FFF2-40B4-BE49-F238E27FC236}">
              <a16:creationId xmlns:a16="http://schemas.microsoft.com/office/drawing/2014/main" id="{59B870D7-ED5B-C7CD-FB99-2991954CAA65}"/>
            </a:ext>
          </a:extLst>
        </p:cNvPr>
        <p:cNvGrpSpPr/>
        <p:nvPr/>
      </p:nvGrpSpPr>
      <p:grpSpPr>
        <a:xfrm>
          <a:off x="0" y="0"/>
          <a:ext cx="0" cy="0"/>
          <a:chOff x="0" y="0"/>
          <a:chExt cx="0" cy="0"/>
        </a:xfrm>
      </p:grpSpPr>
      <p:sp>
        <p:nvSpPr>
          <p:cNvPr id="129" name="Google Shape;129;p5:notes">
            <a:extLst>
              <a:ext uri="{FF2B5EF4-FFF2-40B4-BE49-F238E27FC236}">
                <a16:creationId xmlns:a16="http://schemas.microsoft.com/office/drawing/2014/main" id="{C8B270BB-F67C-52E3-249C-6FE0C237CA9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0" name="Google Shape;130;p5:notes">
            <a:extLst>
              <a:ext uri="{FF2B5EF4-FFF2-40B4-BE49-F238E27FC236}">
                <a16:creationId xmlns:a16="http://schemas.microsoft.com/office/drawing/2014/main" id="{151B863E-6240-36E9-EB23-2DAA667D251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7985781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id="{279463AA-D7FA-5F7E-C4D0-06BDEDCBB932}"/>
            </a:ext>
          </a:extLst>
        </p:cNvPr>
        <p:cNvGrpSpPr/>
        <p:nvPr/>
      </p:nvGrpSpPr>
      <p:grpSpPr>
        <a:xfrm>
          <a:off x="0" y="0"/>
          <a:ext cx="0" cy="0"/>
          <a:chOff x="0" y="0"/>
          <a:chExt cx="0" cy="0"/>
        </a:xfrm>
      </p:grpSpPr>
      <p:sp>
        <p:nvSpPr>
          <p:cNvPr id="171" name="Google Shape;171;p7:notes">
            <a:extLst>
              <a:ext uri="{FF2B5EF4-FFF2-40B4-BE49-F238E27FC236}">
                <a16:creationId xmlns:a16="http://schemas.microsoft.com/office/drawing/2014/main" id="{A84E3171-2C5C-8738-5718-5608CE1B13A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a:extLst>
              <a:ext uri="{FF2B5EF4-FFF2-40B4-BE49-F238E27FC236}">
                <a16:creationId xmlns:a16="http://schemas.microsoft.com/office/drawing/2014/main" id="{E16E406D-2512-5EF2-0167-6C895346954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3496662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0" name="Google Shape;190;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C2F88CF5-D0C3-0228-6C1A-E849738B9B34}"/>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15C41DBA-EB5E-9EB1-28D2-68EF3081A29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9AACA92E-BC74-25E5-B8D5-2E658F81C2F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758711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A795C14E-5D6A-39A3-2018-2C72BB451BBD}"/>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85B8BB2F-0927-3841-AC64-CC67B503586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58797E72-A3BC-0A49-07C4-DE7FDA75236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207868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466C47D1-19F6-52AF-3914-DD3C99058916}"/>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ACA1F779-4C2B-4CD1-FBDD-A40F0A32234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40004D30-6E86-E263-D5DA-7577B1C759B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2216939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5" name="Google Shape;305;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2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sp>
        <p:nvSpPr>
          <p:cNvPr id="24" name="Google Shape;24;p2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2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6" name="Google Shape;26;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9"/>
        <p:cNvGrpSpPr/>
        <p:nvPr/>
      </p:nvGrpSpPr>
      <p:grpSpPr>
        <a:xfrm>
          <a:off x="0" y="0"/>
          <a:ext cx="0" cy="0"/>
          <a:chOff x="0" y="0"/>
          <a:chExt cx="0" cy="0"/>
        </a:xfrm>
      </p:grpSpPr>
      <p:sp>
        <p:nvSpPr>
          <p:cNvPr id="30" name="Google Shape;30;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2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 name="Google Shape;32;p2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6"/>
        <p:cNvGrpSpPr/>
        <p:nvPr/>
      </p:nvGrpSpPr>
      <p:grpSpPr>
        <a:xfrm>
          <a:off x="0" y="0"/>
          <a:ext cx="0" cy="0"/>
          <a:chOff x="0" y="0"/>
          <a:chExt cx="0" cy="0"/>
        </a:xfrm>
      </p:grpSpPr>
      <p:sp>
        <p:nvSpPr>
          <p:cNvPr id="37" name="Google Shape;37;p2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2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9" name="Google Shape;39;p2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2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1" name="Google Shape;41;p2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5"/>
        <p:cNvGrpSpPr/>
        <p:nvPr/>
      </p:nvGrpSpPr>
      <p:grpSpPr>
        <a:xfrm>
          <a:off x="0" y="0"/>
          <a:ext cx="0" cy="0"/>
          <a:chOff x="0" y="0"/>
          <a:chExt cx="0" cy="0"/>
        </a:xfrm>
      </p:grpSpPr>
      <p:sp>
        <p:nvSpPr>
          <p:cNvPr id="46" name="Google Shape;46;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0"/>
        <p:cNvGrpSpPr/>
        <p:nvPr/>
      </p:nvGrpSpPr>
      <p:grpSpPr>
        <a:xfrm>
          <a:off x="0" y="0"/>
          <a:ext cx="0" cy="0"/>
          <a:chOff x="0" y="0"/>
          <a:chExt cx="0" cy="0"/>
        </a:xfrm>
      </p:grpSpPr>
      <p:sp>
        <p:nvSpPr>
          <p:cNvPr id="51" name="Google Shape;51;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2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2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7" name="Google Shape;57;p2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8" name="Google Shape;58;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3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30"/>
          <p:cNvSpPr>
            <a:spLocks noGrp="1"/>
          </p:cNvSpPr>
          <p:nvPr>
            <p:ph type="pic" idx="2"/>
          </p:nvPr>
        </p:nvSpPr>
        <p:spPr>
          <a:xfrm>
            <a:off x="5183188" y="987425"/>
            <a:ext cx="6172200" cy="4873625"/>
          </a:xfrm>
          <a:prstGeom prst="rect">
            <a:avLst/>
          </a:prstGeom>
          <a:noFill/>
          <a:ln>
            <a:noFill/>
          </a:ln>
        </p:spPr>
      </p:sp>
      <p:sp>
        <p:nvSpPr>
          <p:cNvPr id="64" name="Google Shape;64;p3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3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3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3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3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2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97BF8-B3EC-77A2-9BFD-D66830272D56}"/>
              </a:ext>
            </a:extLst>
          </p:cNvPr>
          <p:cNvSpPr>
            <a:spLocks noGrp="1"/>
          </p:cNvSpPr>
          <p:nvPr>
            <p:ph type="title"/>
          </p:nvPr>
        </p:nvSpPr>
        <p:spPr/>
        <p:txBody>
          <a:bodyPr>
            <a:normAutofit/>
          </a:bodyPr>
          <a:lstStyle/>
          <a:p>
            <a:pPr algn="ctr"/>
            <a:r>
              <a:rPr lang="en-US" sz="6600" b="1"/>
              <a:t>IBM University Engagement Project Submission</a:t>
            </a:r>
            <a:br>
              <a:rPr lang="en-US" b="1"/>
            </a:br>
            <a:endParaRPr lang="en-IN"/>
          </a:p>
        </p:txBody>
      </p:sp>
      <p:sp>
        <p:nvSpPr>
          <p:cNvPr id="3" name="Text Placeholder 2">
            <a:extLst>
              <a:ext uri="{FF2B5EF4-FFF2-40B4-BE49-F238E27FC236}">
                <a16:creationId xmlns:a16="http://schemas.microsoft.com/office/drawing/2014/main" id="{FFAB85A1-2169-FF43-3E91-E2E8ADA742FF}"/>
              </a:ext>
            </a:extLst>
          </p:cNvPr>
          <p:cNvSpPr>
            <a:spLocks noGrp="1"/>
          </p:cNvSpPr>
          <p:nvPr>
            <p:ph type="body" idx="1"/>
          </p:nvPr>
        </p:nvSpPr>
        <p:spPr>
          <a:xfrm>
            <a:off x="1014730" y="3903663"/>
            <a:ext cx="10515600" cy="1500187"/>
          </a:xfrm>
        </p:spPr>
        <p:txBody>
          <a:bodyPr/>
          <a:lstStyle/>
          <a:p>
            <a:pPr algn="ctr"/>
            <a:r>
              <a:rPr lang="en-US" b="1" i="1"/>
              <a:t>“Exploring the Power of Agentic AI with IBM Granite and </a:t>
            </a:r>
            <a:r>
              <a:rPr lang="en-US" b="1" i="1" err="1"/>
              <a:t>LangFlow</a:t>
            </a:r>
            <a:r>
              <a:rPr lang="en-US" b="1" i="1"/>
              <a:t>”</a:t>
            </a:r>
            <a:endParaRPr lang="en-IN"/>
          </a:p>
        </p:txBody>
      </p:sp>
    </p:spTree>
    <p:extLst>
      <p:ext uri="{BB962C8B-B14F-4D97-AF65-F5344CB8AC3E}">
        <p14:creationId xmlns:p14="http://schemas.microsoft.com/office/powerpoint/2010/main" val="9575646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2" name="Google Shape;92;p2"/>
          <p:cNvSpPr/>
          <p:nvPr/>
        </p:nvSpPr>
        <p:spPr>
          <a:xfrm>
            <a:off x="690624" y="4425370"/>
            <a:ext cx="10795794" cy="199230"/>
          </a:xfrm>
          <a:prstGeom prst="rect">
            <a:avLst/>
          </a:prstGeom>
          <a:noFill/>
          <a:ln>
            <a:noFill/>
          </a:ln>
        </p:spPr>
        <p:txBody>
          <a:bodyPr spcFirstLastPara="1" wrap="square" lIns="0" tIns="0" rIns="0" bIns="0" anchor="t" anchorCtr="0">
            <a:noAutofit/>
          </a:bodyPr>
          <a:lstStyle/>
          <a:p>
            <a:pPr marL="0" marR="0" lvl="0" indent="0" algn="l" rtl="0">
              <a:lnSpc>
                <a:spcPct val="160000"/>
              </a:lnSpc>
              <a:spcBef>
                <a:spcPts val="0"/>
              </a:spcBef>
              <a:spcAft>
                <a:spcPts val="0"/>
              </a:spcAft>
              <a:buClr>
                <a:schemeClr val="dk1"/>
              </a:buClr>
              <a:buSzPts val="1500"/>
              <a:buFont typeface="Calibri"/>
              <a:buNone/>
            </a:pPr>
            <a:endParaRPr sz="1500" b="0" i="0" u="none" strike="noStrike" cap="none">
              <a:solidFill>
                <a:schemeClr val="dk1"/>
              </a:solidFill>
              <a:latin typeface="Times New Roman"/>
              <a:ea typeface="Times New Roman"/>
              <a:cs typeface="Times New Roman"/>
              <a:sym typeface="Times New Roman"/>
            </a:endParaRPr>
          </a:p>
        </p:txBody>
      </p:sp>
      <p:sp>
        <p:nvSpPr>
          <p:cNvPr id="95" name="Google Shape;95;p2"/>
          <p:cNvSpPr txBox="1"/>
          <p:nvPr/>
        </p:nvSpPr>
        <p:spPr>
          <a:xfrm>
            <a:off x="1102321" y="1174639"/>
            <a:ext cx="7426406" cy="451519"/>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2060"/>
              </a:buClr>
              <a:buSzPts val="3200"/>
              <a:buFont typeface="Times New Roman"/>
              <a:buNone/>
            </a:pPr>
            <a:endParaRPr sz="3200" b="1" i="0" u="none" strike="noStrike" cap="none">
              <a:solidFill>
                <a:srgbClr val="002060"/>
              </a:solidFill>
              <a:latin typeface="Times New Roman"/>
              <a:ea typeface="Times New Roman"/>
              <a:cs typeface="Times New Roman"/>
              <a:sym typeface="Times New Roman"/>
            </a:endParaRPr>
          </a:p>
        </p:txBody>
      </p:sp>
      <p:graphicFrame>
        <p:nvGraphicFramePr>
          <p:cNvPr id="96" name="Google Shape;96;p2"/>
          <p:cNvGraphicFramePr/>
          <p:nvPr>
            <p:extLst>
              <p:ext uri="{D42A27DB-BD31-4B8C-83A1-F6EECF244321}">
                <p14:modId xmlns:p14="http://schemas.microsoft.com/office/powerpoint/2010/main" val="896781597"/>
              </p:ext>
            </p:extLst>
          </p:nvPr>
        </p:nvGraphicFramePr>
        <p:xfrm>
          <a:off x="1299257" y="2600315"/>
          <a:ext cx="9394989" cy="2167128"/>
        </p:xfrm>
        <a:graphic>
          <a:graphicData uri="http://schemas.openxmlformats.org/drawingml/2006/table">
            <a:tbl>
              <a:tblPr>
                <a:noFill/>
                <a:tableStyleId>{0AAD8F4D-43EB-41E5-8A38-28AB6DFB1B60}</a:tableStyleId>
              </a:tblPr>
              <a:tblGrid>
                <a:gridCol w="2064867">
                  <a:extLst>
                    <a:ext uri="{9D8B030D-6E8A-4147-A177-3AD203B41FA5}">
                      <a16:colId xmlns:a16="http://schemas.microsoft.com/office/drawing/2014/main" val="20000"/>
                    </a:ext>
                  </a:extLst>
                </a:gridCol>
                <a:gridCol w="2443374">
                  <a:extLst>
                    <a:ext uri="{9D8B030D-6E8A-4147-A177-3AD203B41FA5}">
                      <a16:colId xmlns:a16="http://schemas.microsoft.com/office/drawing/2014/main" val="20002"/>
                    </a:ext>
                  </a:extLst>
                </a:gridCol>
                <a:gridCol w="2443374">
                  <a:extLst>
                    <a:ext uri="{9D8B030D-6E8A-4147-A177-3AD203B41FA5}">
                      <a16:colId xmlns:a16="http://schemas.microsoft.com/office/drawing/2014/main" val="20003"/>
                    </a:ext>
                  </a:extLst>
                </a:gridCol>
                <a:gridCol w="2443374">
                  <a:extLst>
                    <a:ext uri="{9D8B030D-6E8A-4147-A177-3AD203B41FA5}">
                      <a16:colId xmlns:a16="http://schemas.microsoft.com/office/drawing/2014/main" val="20004"/>
                    </a:ext>
                  </a:extLst>
                </a:gridCol>
              </a:tblGrid>
              <a:tr h="973237">
                <a:tc>
                  <a:txBody>
                    <a:bodyPr/>
                    <a:lstStyle/>
                    <a:p>
                      <a:pPr marL="0" marR="0" lvl="0" indent="0" algn="ctr" rtl="0">
                        <a:spcBef>
                          <a:spcPts val="0"/>
                        </a:spcBef>
                        <a:spcAft>
                          <a:spcPts val="0"/>
                        </a:spcAft>
                        <a:buNone/>
                      </a:pPr>
                      <a:r>
                        <a:rPr lang="en-US" sz="1800" u="none" strike="noStrike" cap="none"/>
                        <a:t>Student Name</a:t>
                      </a:r>
                      <a:endParaRPr sz="1800" u="none" strike="noStrike" cap="none"/>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spcBef>
                          <a:spcPts val="0"/>
                        </a:spcBef>
                        <a:spcAft>
                          <a:spcPts val="0"/>
                        </a:spcAft>
                        <a:buNone/>
                      </a:pPr>
                      <a:r>
                        <a:rPr lang="en-US" sz="1800" u="none" strike="noStrike" cap="none"/>
                        <a:t>Recent Passport Photo</a:t>
                      </a:r>
                      <a:endParaRPr sz="1800" u="none" strike="noStrike" cap="none"/>
                    </a:p>
                  </a:txBody>
                  <a:tcPr marL="91450" marR="91450" marT="45725" marB="45725" anchor="ctr">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lgn="ctr">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Arial"/>
                          <a:ea typeface="Calibri"/>
                          <a:cs typeface="Arial"/>
                          <a:sym typeface="Calibri"/>
                        </a:rPr>
                        <a:t>Email ID </a:t>
                      </a:r>
                      <a:endParaRPr sz="1800" b="0" i="0" u="none" strike="noStrike" cap="none">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Calibri"/>
                          <a:cs typeface="Arial"/>
                          <a:sym typeface="Calibri"/>
                        </a:rPr>
                        <a:t>Mobile number</a:t>
                      </a:r>
                      <a:endParaRPr sz="1800" b="0" i="0" u="none" strike="noStrike" cap="none">
                        <a:solidFill>
                          <a:srgbClr val="000000"/>
                        </a:solidFill>
                        <a:latin typeface="Arial"/>
                        <a:cs typeface="Arial"/>
                        <a:sym typeface="Arial"/>
                      </a:endParaRPr>
                    </a:p>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Calibri"/>
                          <a:cs typeface="Arial"/>
                          <a:sym typeface="Calibri"/>
                        </a:rPr>
                        <a:t>[WhatsApp] </a:t>
                      </a:r>
                      <a:endParaRPr sz="1800" b="0" i="0" u="none" strike="noStrike" cap="none">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extLst>
                  <a:ext uri="{0D108BD9-81ED-4DB2-BD59-A6C34878D82A}">
                    <a16:rowId xmlns:a16="http://schemas.microsoft.com/office/drawing/2014/main" val="10000"/>
                  </a:ext>
                </a:extLst>
              </a:tr>
              <a:tr h="1193891">
                <a:tc>
                  <a:txBody>
                    <a:bodyPr/>
                    <a:lstStyle/>
                    <a:p>
                      <a:pPr marL="0" marR="0" lvl="0" indent="0" algn="l" rtl="0">
                        <a:spcBef>
                          <a:spcPts val="0"/>
                        </a:spcBef>
                        <a:spcAft>
                          <a:spcPts val="0"/>
                        </a:spcAft>
                        <a:buNone/>
                      </a:pPr>
                      <a:r>
                        <a:rPr lang="en-US" dirty="0"/>
                        <a:t>Pravina Mahendra Patil</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sz="1800" dirty="0"/>
                    </a:p>
                  </a:txBody>
                  <a:tcPr marL="91450" marR="91450" marT="45725" marB="45725">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r>
                        <a:rPr lang="en-US" dirty="0"/>
                        <a:t>ppravina250@gmail.com</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r>
                        <a:rPr lang="en-US" dirty="0"/>
                        <a:t>7666921529</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extLst>
                  <a:ext uri="{0D108BD9-81ED-4DB2-BD59-A6C34878D82A}">
                    <a16:rowId xmlns:a16="http://schemas.microsoft.com/office/drawing/2014/main" val="10001"/>
                  </a:ext>
                </a:extLst>
              </a:tr>
            </a:tbl>
          </a:graphicData>
        </a:graphic>
      </p:graphicFrame>
      <p:sp>
        <p:nvSpPr>
          <p:cNvPr id="4" name="TextBox 3">
            <a:extLst>
              <a:ext uri="{FF2B5EF4-FFF2-40B4-BE49-F238E27FC236}">
                <a16:creationId xmlns:a16="http://schemas.microsoft.com/office/drawing/2014/main" id="{A828B9EF-C084-F5D4-CA27-75AF7D995640}"/>
              </a:ext>
            </a:extLst>
          </p:cNvPr>
          <p:cNvSpPr txBox="1"/>
          <p:nvPr/>
        </p:nvSpPr>
        <p:spPr>
          <a:xfrm>
            <a:off x="1206164" y="1460724"/>
            <a:ext cx="10280254" cy="461665"/>
          </a:xfrm>
          <a:prstGeom prst="rect">
            <a:avLst/>
          </a:prstGeom>
          <a:noFill/>
        </p:spPr>
        <p:txBody>
          <a:bodyPr wrap="square" rtlCol="0">
            <a:spAutoFit/>
          </a:bodyPr>
          <a:lstStyle/>
          <a:p>
            <a:r>
              <a:rPr lang="en-US" sz="2400" b="1" dirty="0"/>
              <a:t>Domain of  Project – </a:t>
            </a:r>
            <a:r>
              <a:rPr lang="en-US" sz="2000" b="1" dirty="0">
                <a:highlight>
                  <a:srgbClr val="FFFF00"/>
                </a:highlight>
              </a:rPr>
              <a:t>Entertainment</a:t>
            </a:r>
            <a:endParaRPr lang="en-IN" sz="2000" b="1" dirty="0">
              <a:highlight>
                <a:srgbClr val="FFFF00"/>
              </a:highlight>
            </a:endParaRPr>
          </a:p>
        </p:txBody>
      </p:sp>
      <p:sp>
        <p:nvSpPr>
          <p:cNvPr id="7" name="TextBox 6">
            <a:extLst>
              <a:ext uri="{FF2B5EF4-FFF2-40B4-BE49-F238E27FC236}">
                <a16:creationId xmlns:a16="http://schemas.microsoft.com/office/drawing/2014/main" id="{3D723CA3-EC2D-165A-F109-3759C4E9C8A4}"/>
              </a:ext>
            </a:extLst>
          </p:cNvPr>
          <p:cNvSpPr txBox="1"/>
          <p:nvPr/>
        </p:nvSpPr>
        <p:spPr>
          <a:xfrm>
            <a:off x="1206162" y="625184"/>
            <a:ext cx="9581177" cy="461665"/>
          </a:xfrm>
          <a:prstGeom prst="rect">
            <a:avLst/>
          </a:prstGeom>
          <a:noFill/>
        </p:spPr>
        <p:txBody>
          <a:bodyPr wrap="square" rtlCol="0">
            <a:spAutoFit/>
          </a:bodyPr>
          <a:lstStyle/>
          <a:p>
            <a:r>
              <a:rPr lang="en-US" sz="2400" b="1" dirty="0"/>
              <a:t>Project Tile – </a:t>
            </a:r>
            <a:r>
              <a:rPr lang="en-US" sz="2000" b="1" dirty="0">
                <a:highlight>
                  <a:srgbClr val="FFFF00"/>
                </a:highlight>
              </a:rPr>
              <a:t>Social Media Agent</a:t>
            </a:r>
            <a:endParaRPr lang="en-IN" sz="2000" b="1" dirty="0">
              <a:highlight>
                <a:srgbClr val="FFFF00"/>
              </a:highlight>
            </a:endParaRPr>
          </a:p>
        </p:txBody>
      </p:sp>
      <p:pic>
        <p:nvPicPr>
          <p:cNvPr id="3" name="Picture 2">
            <a:extLst>
              <a:ext uri="{FF2B5EF4-FFF2-40B4-BE49-F238E27FC236}">
                <a16:creationId xmlns:a16="http://schemas.microsoft.com/office/drawing/2014/main" id="{F9BDC45E-C389-E228-B962-2F9FAFF7530A}"/>
              </a:ext>
            </a:extLst>
          </p:cNvPr>
          <p:cNvPicPr>
            <a:picLocks noChangeAspect="1"/>
          </p:cNvPicPr>
          <p:nvPr/>
        </p:nvPicPr>
        <p:blipFill>
          <a:blip r:embed="rId3"/>
          <a:stretch>
            <a:fillRect/>
          </a:stretch>
        </p:blipFill>
        <p:spPr>
          <a:xfrm>
            <a:off x="4178710" y="3608439"/>
            <a:ext cx="808478" cy="1016161"/>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F4C0A7C6-2888-EA53-35AB-4072E6B1FDA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6F6745E-14BA-0766-CE1E-32E29663832D}"/>
              </a:ext>
            </a:extLst>
          </p:cNvPr>
          <p:cNvSpPr txBox="1"/>
          <p:nvPr/>
        </p:nvSpPr>
        <p:spPr>
          <a:xfrm>
            <a:off x="507246" y="1289953"/>
            <a:ext cx="10607040" cy="4370427"/>
          </a:xfrm>
          <a:prstGeom prst="rect">
            <a:avLst/>
          </a:prstGeom>
          <a:noFill/>
        </p:spPr>
        <p:txBody>
          <a:bodyPr wrap="square" rtlCol="0">
            <a:spAutoFit/>
          </a:bodyPr>
          <a:lstStyle/>
          <a:p>
            <a:pPr fontAlgn="base"/>
            <a:r>
              <a:rPr lang="en-US" b="1" dirty="0"/>
              <a:t>Problem Statement : Social Media Agent</a:t>
            </a:r>
            <a:endParaRPr lang="en-US" dirty="0"/>
          </a:p>
          <a:p>
            <a:pPr fontAlgn="base"/>
            <a:endParaRPr lang="en-US" b="1" dirty="0"/>
          </a:p>
          <a:p>
            <a:r>
              <a:rPr lang="en-US" sz="2000" dirty="0"/>
              <a:t>The Challenge:</a:t>
            </a:r>
          </a:p>
          <a:p>
            <a:r>
              <a:rPr lang="en-US" dirty="0"/>
              <a:t>Brands, influencers, and organizations struggle to keep up with the fast-paced and fragmented world of social media. Content trends evolve hourly, audience sentiment shifts rapidly, and competitor strategies are difficult to track. Managing multiple platforms often leads to scattered insights, missed engagement opportunities, and ineffective campaigns. The challenge is not only to collect social media data but also to analyze, predict, and recommend actions in real time</a:t>
            </a:r>
          </a:p>
          <a:p>
            <a:endParaRPr lang="en-US" dirty="0"/>
          </a:p>
          <a:p>
            <a:r>
              <a:rPr lang="en-US" sz="2000" dirty="0"/>
              <a:t>The Objective:</a:t>
            </a:r>
          </a:p>
          <a:p>
            <a:r>
              <a:rPr lang="en-US" dirty="0"/>
              <a:t>Build an agentic Al application that acts as an intelligent social media companion. The solution should:</a:t>
            </a:r>
          </a:p>
          <a:p>
            <a:r>
              <a:rPr lang="en-US" dirty="0"/>
              <a:t>1. Fuse Multichannel Data: Collect and synthesize content, comments, hashtags, and competitor posts from platforms like X, LinkedIn, Instagram, and Facebook into unified insights.</a:t>
            </a:r>
          </a:p>
          <a:p>
            <a:r>
              <a:rPr lang="en-US" dirty="0"/>
              <a:t>2. Enable Multimodal Interaction:- Accept user inputs (text, images, or voice prompts) and generate creative post drafts, captions, or campaign ideas aligned with brand tone</a:t>
            </a:r>
          </a:p>
          <a:p>
            <a:r>
              <a:rPr lang="en-US" dirty="0"/>
              <a:t>3. Create a Predictive &amp; Agentic Layer:- Forecast trending hashtags, audience sentiment shifts, and competitor engagement patterns while suggesting the best posting schedules.</a:t>
            </a:r>
          </a:p>
          <a:p>
            <a:r>
              <a:rPr lang="en-US" dirty="0"/>
              <a:t>4. Visualize Social Media Pulse:- Provide a dashboard with real-time analytics-engagement trends, influencer mapping, sentiment tracking, and campaign performance forecasts.</a:t>
            </a:r>
          </a:p>
          <a:p>
            <a:endParaRPr lang="en-US" dirty="0"/>
          </a:p>
        </p:txBody>
      </p:sp>
      <p:sp>
        <p:nvSpPr>
          <p:cNvPr id="3" name="TextBox 2">
            <a:extLst>
              <a:ext uri="{FF2B5EF4-FFF2-40B4-BE49-F238E27FC236}">
                <a16:creationId xmlns:a16="http://schemas.microsoft.com/office/drawing/2014/main" id="{3847FA31-EA47-D27A-9D69-AF50A3080AEC}"/>
              </a:ext>
            </a:extLst>
          </p:cNvPr>
          <p:cNvSpPr txBox="1"/>
          <p:nvPr/>
        </p:nvSpPr>
        <p:spPr>
          <a:xfrm>
            <a:off x="576072" y="704088"/>
            <a:ext cx="7214616" cy="461665"/>
          </a:xfrm>
          <a:prstGeom prst="rect">
            <a:avLst/>
          </a:prstGeom>
          <a:noFill/>
        </p:spPr>
        <p:txBody>
          <a:bodyPr wrap="square" rtlCol="0">
            <a:spAutoFit/>
          </a:bodyPr>
          <a:lstStyle/>
          <a:p>
            <a:r>
              <a:rPr lang="en-US" sz="2400" b="1"/>
              <a:t>Problem Statement -</a:t>
            </a:r>
            <a:endParaRPr lang="en-IN" sz="2400" b="1"/>
          </a:p>
        </p:txBody>
      </p:sp>
    </p:spTree>
    <p:extLst>
      <p:ext uri="{BB962C8B-B14F-4D97-AF65-F5344CB8AC3E}">
        <p14:creationId xmlns:p14="http://schemas.microsoft.com/office/powerpoint/2010/main" val="29525842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0471B467-61AA-7BCA-460D-43041E805F9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A1BF701-ABCA-4DF0-8330-B6AF71EF8E39}"/>
              </a:ext>
            </a:extLst>
          </p:cNvPr>
          <p:cNvSpPr txBox="1"/>
          <p:nvPr/>
        </p:nvSpPr>
        <p:spPr>
          <a:xfrm>
            <a:off x="576072" y="1234440"/>
            <a:ext cx="10607040" cy="5047536"/>
          </a:xfrm>
          <a:prstGeom prst="rect">
            <a:avLst/>
          </a:prstGeom>
          <a:noFill/>
        </p:spPr>
        <p:txBody>
          <a:bodyPr wrap="square" rtlCol="0">
            <a:spAutoFit/>
          </a:bodyPr>
          <a:lstStyle/>
          <a:p>
            <a:endParaRPr lang="en-US" b="1" dirty="0"/>
          </a:p>
          <a:p>
            <a:r>
              <a:rPr lang="en-IN" b="1" dirty="0"/>
              <a:t>Proposed Solution: AI-Powered Social Media Agent</a:t>
            </a:r>
          </a:p>
          <a:p>
            <a:r>
              <a:rPr lang="en-IN" dirty="0"/>
              <a:t>The proposed solution is a multi-agent AI-powered Social Media Agent designed to automate content creation, audience engagement, and social media analytics. The system uses AI models, Retrieval-Augmented Generation (RAG), and intelligent workflows to provide personalized marketing assistance and improve online brand presence.</a:t>
            </a:r>
          </a:p>
          <a:p>
            <a:r>
              <a:rPr lang="en-IN" dirty="0"/>
              <a:t>At its core, the solution uses a </a:t>
            </a:r>
            <a:r>
              <a:rPr lang="en-IN" b="1" dirty="0"/>
              <a:t>RAG pipeline</a:t>
            </a:r>
            <a:r>
              <a:rPr lang="en-IN" dirty="0"/>
              <a:t> to collect and </a:t>
            </a:r>
            <a:r>
              <a:rPr lang="en-IN" dirty="0" err="1"/>
              <a:t>analyze</a:t>
            </a:r>
            <a:r>
              <a:rPr lang="en-IN" dirty="0"/>
              <a:t> social media trends, brand information, audience </a:t>
            </a:r>
            <a:r>
              <a:rPr lang="en-IN" dirty="0" err="1"/>
              <a:t>behavior</a:t>
            </a:r>
            <a:r>
              <a:rPr lang="en-IN" dirty="0"/>
              <a:t>, and marketing insights from trusted sources. The retrieved knowledge is stored in a vector database, allowing AI models to generate relevant content and recommendations.</a:t>
            </a:r>
          </a:p>
          <a:p>
            <a:r>
              <a:rPr lang="en-IN" dirty="0"/>
              <a:t>The system consists of four key agents:</a:t>
            </a:r>
          </a:p>
          <a:p>
            <a:r>
              <a:rPr lang="en-IN" b="1" dirty="0"/>
              <a:t>Content Creation Agent</a:t>
            </a:r>
            <a:r>
              <a:rPr lang="en-IN" dirty="0"/>
              <a:t> generates captions, posts, hashtags, and marketing content based on brand goals and target audiences.</a:t>
            </a:r>
          </a:p>
          <a:p>
            <a:r>
              <a:rPr lang="en-IN" b="1" dirty="0"/>
              <a:t>Strategy Agent</a:t>
            </a:r>
            <a:r>
              <a:rPr lang="en-IN" dirty="0"/>
              <a:t> </a:t>
            </a:r>
            <a:r>
              <a:rPr lang="en-IN" dirty="0" err="1"/>
              <a:t>analyzes</a:t>
            </a:r>
            <a:r>
              <a:rPr lang="en-IN" dirty="0"/>
              <a:t> trends, competitors, and audience insights to recommend posting schedules, campaigns, and growth strategies.</a:t>
            </a:r>
          </a:p>
          <a:p>
            <a:r>
              <a:rPr lang="en-IN" b="1" dirty="0"/>
              <a:t>Engagement Agent</a:t>
            </a:r>
            <a:r>
              <a:rPr lang="en-IN" dirty="0"/>
              <a:t> manages comments and messages, performs sentiment analysis, and provides automated customer responses.</a:t>
            </a:r>
          </a:p>
          <a:p>
            <a:r>
              <a:rPr lang="en-IN" b="1" dirty="0"/>
              <a:t>Analytics Agent</a:t>
            </a:r>
            <a:r>
              <a:rPr lang="en-IN" dirty="0"/>
              <a:t> tracks performance metrics, </a:t>
            </a:r>
            <a:r>
              <a:rPr lang="en-IN" dirty="0" err="1"/>
              <a:t>analyzes</a:t>
            </a:r>
            <a:r>
              <a:rPr lang="en-IN" dirty="0"/>
              <a:t> engagement, and provides optimization suggestions.</a:t>
            </a:r>
          </a:p>
          <a:p>
            <a:r>
              <a:rPr lang="en-IN" dirty="0"/>
              <a:t>The platform includes an interactive dashboard built using </a:t>
            </a:r>
            <a:r>
              <a:rPr lang="en-IN" dirty="0" err="1"/>
              <a:t>Streamlit</a:t>
            </a:r>
            <a:r>
              <a:rPr lang="en-IN" dirty="0"/>
              <a:t> or React to manage posts, monitor analytics, schedule content, and visualize social media growth.</a:t>
            </a:r>
          </a:p>
          <a:p>
            <a:r>
              <a:rPr lang="en-IN" dirty="0"/>
              <a:t>Frameworks like </a:t>
            </a:r>
            <a:r>
              <a:rPr lang="en-IN" b="1" dirty="0" err="1"/>
              <a:t>LangFlow</a:t>
            </a:r>
            <a:r>
              <a:rPr lang="en-IN" dirty="0"/>
              <a:t> manage agent workflows, while AI platforms such as </a:t>
            </a:r>
            <a:r>
              <a:rPr lang="en-IN" b="1" dirty="0"/>
              <a:t>IBM watsonx.ai and Granite Models</a:t>
            </a:r>
            <a:r>
              <a:rPr lang="en-IN" dirty="0"/>
              <a:t> support content generation, reasoning, personalization, and scalable AI deployment.</a:t>
            </a:r>
          </a:p>
          <a:p>
            <a:r>
              <a:rPr lang="en-IN" dirty="0"/>
              <a:t>Overall, the AI-powered Social Media Agent provides an intelligent solution for automating social media management, improving audience engagement, and enabling data-driven marketing decisions.</a:t>
            </a:r>
          </a:p>
          <a:p>
            <a:pPr fontAlgn="base"/>
            <a:endParaRPr lang="en-US" dirty="0"/>
          </a:p>
          <a:p>
            <a:endParaRPr lang="en-IN" dirty="0"/>
          </a:p>
        </p:txBody>
      </p:sp>
      <p:sp>
        <p:nvSpPr>
          <p:cNvPr id="3" name="TextBox 2">
            <a:extLst>
              <a:ext uri="{FF2B5EF4-FFF2-40B4-BE49-F238E27FC236}">
                <a16:creationId xmlns:a16="http://schemas.microsoft.com/office/drawing/2014/main" id="{527F30CC-07EF-8FCC-DA00-C9212F5DAECE}"/>
              </a:ext>
            </a:extLst>
          </p:cNvPr>
          <p:cNvSpPr txBox="1"/>
          <p:nvPr/>
        </p:nvSpPr>
        <p:spPr>
          <a:xfrm>
            <a:off x="576072" y="704088"/>
            <a:ext cx="7214616" cy="461665"/>
          </a:xfrm>
          <a:prstGeom prst="rect">
            <a:avLst/>
          </a:prstGeom>
          <a:noFill/>
        </p:spPr>
        <p:txBody>
          <a:bodyPr wrap="square" rtlCol="0">
            <a:spAutoFit/>
          </a:bodyPr>
          <a:lstStyle/>
          <a:p>
            <a:r>
              <a:rPr lang="en-US" sz="2400" b="1"/>
              <a:t>Proposed Solution -</a:t>
            </a:r>
            <a:endParaRPr lang="en-IN" sz="2400" b="1"/>
          </a:p>
        </p:txBody>
      </p:sp>
    </p:spTree>
    <p:extLst>
      <p:ext uri="{BB962C8B-B14F-4D97-AF65-F5344CB8AC3E}">
        <p14:creationId xmlns:p14="http://schemas.microsoft.com/office/powerpoint/2010/main" val="22902949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7C2A09DE-0AE2-AA94-B2C1-84FDBDB9DC6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51FBD4A-3273-E454-091D-D5B0678FC299}"/>
              </a:ext>
            </a:extLst>
          </p:cNvPr>
          <p:cNvSpPr txBox="1"/>
          <p:nvPr/>
        </p:nvSpPr>
        <p:spPr>
          <a:xfrm>
            <a:off x="777240" y="484632"/>
            <a:ext cx="7123176" cy="461665"/>
          </a:xfrm>
          <a:prstGeom prst="rect">
            <a:avLst/>
          </a:prstGeom>
          <a:noFill/>
        </p:spPr>
        <p:txBody>
          <a:bodyPr wrap="square" lIns="91440" tIns="45720" rIns="91440" bIns="45720" rtlCol="0" anchor="t">
            <a:spAutoFit/>
          </a:bodyPr>
          <a:lstStyle/>
          <a:p>
            <a:r>
              <a:rPr lang="en-US" sz="2400" b="1" dirty="0"/>
              <a:t>Technology Used</a:t>
            </a:r>
            <a:endParaRPr lang="en-IN" sz="2400" b="1" dirty="0"/>
          </a:p>
        </p:txBody>
      </p:sp>
      <p:sp>
        <p:nvSpPr>
          <p:cNvPr id="3" name="TextBox 2">
            <a:extLst>
              <a:ext uri="{FF2B5EF4-FFF2-40B4-BE49-F238E27FC236}">
                <a16:creationId xmlns:a16="http://schemas.microsoft.com/office/drawing/2014/main" id="{4A7608B5-9906-EFCF-959A-E89FC2E3EE19}"/>
              </a:ext>
            </a:extLst>
          </p:cNvPr>
          <p:cNvSpPr txBox="1"/>
          <p:nvPr/>
        </p:nvSpPr>
        <p:spPr>
          <a:xfrm>
            <a:off x="777240" y="1207008"/>
            <a:ext cx="10515600" cy="5047536"/>
          </a:xfrm>
          <a:prstGeom prst="rect">
            <a:avLst/>
          </a:prstGeom>
          <a:noFill/>
        </p:spPr>
        <p:txBody>
          <a:bodyPr wrap="square" lIns="91440" tIns="45720" rIns="91440" bIns="45720" rtlCol="0" anchor="t">
            <a:spAutoFit/>
          </a:bodyPr>
          <a:lstStyle/>
          <a:p>
            <a:r>
              <a:rPr lang="en-IN" b="1" dirty="0" err="1"/>
              <a:t>LangFlow</a:t>
            </a:r>
            <a:r>
              <a:rPr lang="en-IN" b="1" dirty="0"/>
              <a:t> Platform</a:t>
            </a:r>
            <a:r>
              <a:rPr lang="en-IN" dirty="0"/>
              <a:t> – For designing and orchestrating multi-agent workflows visually, enabling smooth communication between different AI agents such as content creation, engagement, strategy, and analytics agents.</a:t>
            </a:r>
          </a:p>
          <a:p>
            <a:endParaRPr lang="en-IN" dirty="0"/>
          </a:p>
          <a:p>
            <a:r>
              <a:rPr lang="en-IN" b="1" dirty="0"/>
              <a:t>IBM Granite Models</a:t>
            </a:r>
            <a:r>
              <a:rPr lang="en-IN" dirty="0"/>
              <a:t> – For natural language understanding, content generation, reasoning, sentiment analysis, and personalized social media recommendations.</a:t>
            </a:r>
          </a:p>
          <a:p>
            <a:endParaRPr lang="en-IN" dirty="0"/>
          </a:p>
          <a:p>
            <a:r>
              <a:rPr lang="en-IN" b="1" dirty="0"/>
              <a:t>IBM Cloud</a:t>
            </a:r>
            <a:r>
              <a:rPr lang="en-IN" dirty="0"/>
              <a:t> – Provides secure, scalable infrastructure for deploying, managing, and running the Social Media Agent efficiently with high availability.</a:t>
            </a:r>
          </a:p>
          <a:p>
            <a:endParaRPr lang="en-IN" dirty="0"/>
          </a:p>
          <a:p>
            <a:r>
              <a:rPr lang="en-IN" b="1" dirty="0"/>
              <a:t>RAG (Retrieval-Augmented Generation)</a:t>
            </a:r>
            <a:r>
              <a:rPr lang="en-IN" dirty="0"/>
              <a:t> – Used to fetch real-time social media trends, brand information, audience insights, and marketing knowledge before generating accurate and context-aware responses.</a:t>
            </a:r>
          </a:p>
          <a:p>
            <a:endParaRPr lang="en-IN" dirty="0"/>
          </a:p>
          <a:p>
            <a:r>
              <a:rPr lang="en-IN" b="1" dirty="0"/>
              <a:t>IBM watsonx.ai</a:t>
            </a:r>
            <a:r>
              <a:rPr lang="en-IN" dirty="0"/>
              <a:t> – For AI model deployment, embeddings, prompt management, monitoring, and responsible AI governance.</a:t>
            </a:r>
          </a:p>
          <a:p>
            <a:endParaRPr lang="en-IN" dirty="0"/>
          </a:p>
          <a:p>
            <a:r>
              <a:rPr lang="en-IN" b="1" dirty="0"/>
              <a:t>Vector Database (FAISS/Chroma)</a:t>
            </a:r>
            <a:r>
              <a:rPr lang="en-IN" dirty="0"/>
              <a:t> – Stores and retrieves social media knowledge, trend data, and brand information to support RAG-based content generation and recommendations.</a:t>
            </a:r>
          </a:p>
          <a:p>
            <a:endParaRPr lang="en-IN" dirty="0"/>
          </a:p>
          <a:p>
            <a:r>
              <a:rPr lang="en-IN" b="1" dirty="0"/>
              <a:t>Frontend Dashboard (React/</a:t>
            </a:r>
            <a:r>
              <a:rPr lang="en-IN" b="1" dirty="0" err="1"/>
              <a:t>Streamlit</a:t>
            </a:r>
            <a:r>
              <a:rPr lang="en-IN" b="1" dirty="0"/>
              <a:t>)</a:t>
            </a:r>
            <a:r>
              <a:rPr lang="en-IN" dirty="0"/>
              <a:t> – Provides an interactive interface for content generation, post scheduling, analytics visualization, and social media management.</a:t>
            </a:r>
          </a:p>
          <a:p>
            <a:endParaRPr lang="en-IN" dirty="0"/>
          </a:p>
          <a:p>
            <a:r>
              <a:rPr lang="en-IN" b="1" dirty="0"/>
              <a:t>LLM APIs (Granite/OpenAI/Gemini)</a:t>
            </a:r>
            <a:r>
              <a:rPr lang="en-IN" dirty="0"/>
              <a:t> – Used for generating captions, hashtags, marketing strategies, customer responses, and intelligent social media insights.</a:t>
            </a:r>
          </a:p>
          <a:p>
            <a:endParaRPr lang="en-IN" dirty="0"/>
          </a:p>
        </p:txBody>
      </p:sp>
    </p:spTree>
    <p:extLst>
      <p:ext uri="{BB962C8B-B14F-4D97-AF65-F5344CB8AC3E}">
        <p14:creationId xmlns:p14="http://schemas.microsoft.com/office/powerpoint/2010/main" val="37644058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1">
          <a:extLst>
            <a:ext uri="{FF2B5EF4-FFF2-40B4-BE49-F238E27FC236}">
              <a16:creationId xmlns:a16="http://schemas.microsoft.com/office/drawing/2014/main" id="{CDF2A78E-5A0E-6814-8AF4-0AE54B0366E1}"/>
            </a:ext>
          </a:extLst>
        </p:cNvPr>
        <p:cNvGrpSpPr/>
        <p:nvPr/>
      </p:nvGrpSpPr>
      <p:grpSpPr>
        <a:xfrm>
          <a:off x="0" y="0"/>
          <a:ext cx="0" cy="0"/>
          <a:chOff x="0" y="0"/>
          <a:chExt cx="0" cy="0"/>
        </a:xfrm>
      </p:grpSpPr>
      <p:sp>
        <p:nvSpPr>
          <p:cNvPr id="135" name="Google Shape;135;p5">
            <a:extLst>
              <a:ext uri="{FF2B5EF4-FFF2-40B4-BE49-F238E27FC236}">
                <a16:creationId xmlns:a16="http://schemas.microsoft.com/office/drawing/2014/main" id="{2A145802-2DD3-EEBA-7D44-210C05B98C91}"/>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2400" b="1" dirty="0" err="1">
                <a:sym typeface="Times New Roman"/>
              </a:rPr>
              <a:t>Langflow</a:t>
            </a:r>
            <a:r>
              <a:rPr lang="en-US" sz="3500" b="1" i="0" u="none" strike="noStrike" cap="none" dirty="0">
                <a:solidFill>
                  <a:srgbClr val="051D3A"/>
                </a:solidFill>
                <a:latin typeface="Times New Roman"/>
                <a:ea typeface="Times New Roman"/>
                <a:cs typeface="Times New Roman"/>
                <a:sym typeface="Times New Roman"/>
              </a:rPr>
              <a:t> </a:t>
            </a:r>
            <a:r>
              <a:rPr lang="en-US" sz="2400" b="1" dirty="0">
                <a:sym typeface="Times New Roman"/>
              </a:rPr>
              <a:t>component Used -</a:t>
            </a:r>
            <a:endParaRPr sz="2400" b="1" dirty="0">
              <a:sym typeface="Times New Roman"/>
            </a:endParaRPr>
          </a:p>
        </p:txBody>
      </p:sp>
      <p:sp>
        <p:nvSpPr>
          <p:cNvPr id="148" name="Google Shape;148;p5">
            <a:extLst>
              <a:ext uri="{FF2B5EF4-FFF2-40B4-BE49-F238E27FC236}">
                <a16:creationId xmlns:a16="http://schemas.microsoft.com/office/drawing/2014/main" id="{69E3EADC-1EAD-7419-145C-20998925206E}"/>
              </a:ext>
            </a:extLst>
          </p:cNvPr>
          <p:cNvSpPr/>
          <p:nvPr/>
        </p:nvSpPr>
        <p:spPr>
          <a:xfrm>
            <a:off x="2264331" y="6784578"/>
            <a:ext cx="2140744"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49" name="Google Shape;149;p5">
            <a:extLst>
              <a:ext uri="{FF2B5EF4-FFF2-40B4-BE49-F238E27FC236}">
                <a16:creationId xmlns:a16="http://schemas.microsoft.com/office/drawing/2014/main" id="{04E5872A-C331-C8F3-5D71-8E953BAAFE03}"/>
              </a:ext>
            </a:extLst>
          </p:cNvPr>
          <p:cNvSpPr/>
          <p:nvPr/>
        </p:nvSpPr>
        <p:spPr>
          <a:xfrm>
            <a:off x="1782604"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0" name="Google Shape;150;p5">
            <a:extLst>
              <a:ext uri="{FF2B5EF4-FFF2-40B4-BE49-F238E27FC236}">
                <a16:creationId xmlns:a16="http://schemas.microsoft.com/office/drawing/2014/main" id="{76EF3801-5D99-5EFA-9AA2-AD265775E354}"/>
              </a:ext>
            </a:extLst>
          </p:cNvPr>
          <p:cNvSpPr/>
          <p:nvPr/>
        </p:nvSpPr>
        <p:spPr>
          <a:xfrm>
            <a:off x="5732383"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1" name="Google Shape;151;p5">
            <a:extLst>
              <a:ext uri="{FF2B5EF4-FFF2-40B4-BE49-F238E27FC236}">
                <a16:creationId xmlns:a16="http://schemas.microsoft.com/office/drawing/2014/main" id="{DAD76A8A-9F2C-9EA9-25E9-40CD0FFAA869}"/>
              </a:ext>
            </a:extLst>
          </p:cNvPr>
          <p:cNvSpPr/>
          <p:nvPr/>
        </p:nvSpPr>
        <p:spPr>
          <a:xfrm>
            <a:off x="5077301"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2" name="Google Shape;152;p5">
            <a:extLst>
              <a:ext uri="{FF2B5EF4-FFF2-40B4-BE49-F238E27FC236}">
                <a16:creationId xmlns:a16="http://schemas.microsoft.com/office/drawing/2014/main" id="{8D9C4260-2673-337C-C898-4C22E0F8FD65}"/>
              </a:ext>
            </a:extLst>
          </p:cNvPr>
          <p:cNvSpPr/>
          <p:nvPr/>
        </p:nvSpPr>
        <p:spPr>
          <a:xfrm>
            <a:off x="9027081"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3" name="Google Shape;153;p5">
            <a:extLst>
              <a:ext uri="{FF2B5EF4-FFF2-40B4-BE49-F238E27FC236}">
                <a16:creationId xmlns:a16="http://schemas.microsoft.com/office/drawing/2014/main" id="{6167C3C6-3747-E373-84C3-3927C443B067}"/>
              </a:ext>
            </a:extLst>
          </p:cNvPr>
          <p:cNvSpPr/>
          <p:nvPr/>
        </p:nvSpPr>
        <p:spPr>
          <a:xfrm>
            <a:off x="8371999"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9BB86949-7ED1-C43B-B1E3-5122BB67A596}"/>
              </a:ext>
            </a:extLst>
          </p:cNvPr>
          <p:cNvSpPr txBox="1"/>
          <p:nvPr/>
        </p:nvSpPr>
        <p:spPr>
          <a:xfrm>
            <a:off x="474822" y="863187"/>
            <a:ext cx="8823960" cy="5262979"/>
          </a:xfrm>
          <a:prstGeom prst="rect">
            <a:avLst/>
          </a:prstGeom>
          <a:noFill/>
        </p:spPr>
        <p:txBody>
          <a:bodyPr wrap="square" rtlCol="0">
            <a:spAutoFit/>
          </a:bodyPr>
          <a:lstStyle/>
          <a:p>
            <a:pPr marL="342900" indent="-342900">
              <a:buFont typeface="+mj-lt"/>
              <a:buAutoNum type="arabicPeriod"/>
            </a:pPr>
            <a:endParaRPr lang="en-US" dirty="0"/>
          </a:p>
          <a:p>
            <a:pPr marL="342900" indent="-342900">
              <a:buFont typeface="+mj-lt"/>
              <a:buAutoNum type="arabicPeriod"/>
            </a:pPr>
            <a:r>
              <a:rPr lang="en-IN" b="1" dirty="0"/>
              <a:t>Chat Input Component</a:t>
            </a:r>
            <a:r>
              <a:rPr lang="en-IN" dirty="0"/>
              <a:t> – Interface where users enter queries, preferences, or meal details through text, voice, or image inputs. </a:t>
            </a:r>
          </a:p>
          <a:p>
            <a:pPr marL="342900" indent="-342900">
              <a:buFont typeface="+mj-lt"/>
              <a:buAutoNum type="arabicPeriod"/>
            </a:pPr>
            <a:endParaRPr lang="en-IN" dirty="0"/>
          </a:p>
          <a:p>
            <a:pPr marL="342900" indent="-342900">
              <a:buFont typeface="+mj-lt"/>
              <a:buAutoNum type="arabicPeriod"/>
            </a:pPr>
            <a:r>
              <a:rPr lang="en-IN" b="1" dirty="0"/>
              <a:t>IBM </a:t>
            </a:r>
            <a:r>
              <a:rPr lang="en-IN" b="1" dirty="0" err="1"/>
              <a:t>watsonx</a:t>
            </a:r>
            <a:r>
              <a:rPr lang="en-IN" b="1" dirty="0"/>
              <a:t> AI Agent Component</a:t>
            </a:r>
            <a:r>
              <a:rPr lang="en-IN" dirty="0"/>
              <a:t> – Processes user inputs using IBM Granite models to generate personalized nutrition insights and recommendations. </a:t>
            </a:r>
          </a:p>
          <a:p>
            <a:pPr marL="342900" indent="-342900">
              <a:buFont typeface="+mj-lt"/>
              <a:buAutoNum type="arabicPeriod"/>
            </a:pPr>
            <a:endParaRPr lang="en-IN" dirty="0"/>
          </a:p>
          <a:p>
            <a:pPr marL="342900" indent="-342900">
              <a:buFont typeface="+mj-lt"/>
              <a:buAutoNum type="arabicPeriod"/>
            </a:pPr>
            <a:r>
              <a:rPr lang="en-IN" b="1" dirty="0"/>
              <a:t>IBM Granite Model: Granite-4.0-8B-Instruct</a:t>
            </a:r>
            <a:r>
              <a:rPr lang="en-IN" dirty="0"/>
              <a:t> – Fast and efficient instruction-following model used for real-time diet recommendations and nutritional analysis.</a:t>
            </a:r>
          </a:p>
          <a:p>
            <a:pPr marL="342900" indent="-342900">
              <a:buFont typeface="+mj-lt"/>
              <a:buAutoNum type="arabicPeriod"/>
            </a:pPr>
            <a:endParaRPr lang="en-IN" dirty="0"/>
          </a:p>
          <a:p>
            <a:pPr marL="342900" indent="-342900">
              <a:buFont typeface="+mj-lt"/>
              <a:buAutoNum type="arabicPeriod"/>
            </a:pPr>
            <a:r>
              <a:rPr lang="en-IN" b="1" dirty="0"/>
              <a:t>Chat Output Component</a:t>
            </a:r>
            <a:r>
              <a:rPr lang="en-IN" dirty="0"/>
              <a:t> – Displays AI-generated responses such as diet plans, nutritional analysis, and health suggestions. </a:t>
            </a:r>
          </a:p>
          <a:p>
            <a:pPr marL="342900" indent="-342900">
              <a:buFont typeface="+mj-lt"/>
              <a:buAutoNum type="arabicPeriod"/>
            </a:pPr>
            <a:endParaRPr lang="en-IN" dirty="0"/>
          </a:p>
          <a:p>
            <a:pPr marL="342900" indent="-342900">
              <a:buFont typeface="+mj-lt"/>
              <a:buAutoNum type="arabicPeriod"/>
            </a:pPr>
            <a:r>
              <a:rPr lang="en-IN" b="1" dirty="0"/>
              <a:t>File Component</a:t>
            </a:r>
            <a:r>
              <a:rPr lang="en-IN" dirty="0"/>
              <a:t> – Stores and retrieves user data, meal logs, and nutritional datasets for analysis and tracking. </a:t>
            </a:r>
          </a:p>
          <a:p>
            <a:pPr marL="342900" indent="-342900">
              <a:buFont typeface="+mj-lt"/>
              <a:buAutoNum type="arabicPeriod"/>
            </a:pPr>
            <a:endParaRPr lang="en-IN" dirty="0"/>
          </a:p>
          <a:p>
            <a:pPr marL="342900" indent="-342900">
              <a:buFont typeface="+mj-lt"/>
              <a:buAutoNum type="arabicPeriod"/>
            </a:pPr>
            <a:r>
              <a:rPr lang="en-IN" b="1" dirty="0"/>
              <a:t>Memory Component</a:t>
            </a:r>
            <a:r>
              <a:rPr lang="en-IN" dirty="0"/>
              <a:t> – Stores conversation context and user preferences to enable personalized and consistent recommendations. </a:t>
            </a:r>
          </a:p>
          <a:p>
            <a:pPr marL="342900" indent="-342900">
              <a:buFont typeface="+mj-lt"/>
              <a:buAutoNum type="arabicPeriod"/>
            </a:pPr>
            <a:endParaRPr lang="en-US" dirty="0"/>
          </a:p>
          <a:p>
            <a:pPr marL="342900" indent="-342900">
              <a:buFont typeface="+mj-lt"/>
              <a:buAutoNum type="arabicPeriod"/>
            </a:pPr>
            <a:endParaRPr lang="en-US" dirty="0"/>
          </a:p>
          <a:p>
            <a:pPr marL="342900" indent="-342900">
              <a:buFont typeface="+mj-lt"/>
              <a:buAutoNum type="arabicPeriod"/>
            </a:pPr>
            <a:endParaRPr lang="en-US" dirty="0"/>
          </a:p>
          <a:p>
            <a:pPr marL="342900" indent="-342900">
              <a:buFont typeface="+mj-lt"/>
              <a:buAutoNum type="arabicPeriod"/>
            </a:pPr>
            <a:endParaRPr lang="en-US" dirty="0"/>
          </a:p>
          <a:p>
            <a:pPr marL="342900" indent="-342900">
              <a:buFont typeface="+mj-lt"/>
              <a:buAutoNum type="arabicPeriod"/>
            </a:pPr>
            <a:endParaRPr lang="en-US" dirty="0"/>
          </a:p>
          <a:p>
            <a:r>
              <a:rPr lang="en-US" dirty="0"/>
              <a:t> </a:t>
            </a:r>
            <a:endParaRPr lang="en-IN" dirty="0"/>
          </a:p>
        </p:txBody>
      </p:sp>
    </p:spTree>
    <p:extLst>
      <p:ext uri="{BB962C8B-B14F-4D97-AF65-F5344CB8AC3E}">
        <p14:creationId xmlns:p14="http://schemas.microsoft.com/office/powerpoint/2010/main" val="3285263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id="{CA6090C0-0478-84F9-6D20-717B6FEB7326}"/>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E80A5482-4602-1EA3-6642-EBE5574DD7C7}"/>
              </a:ext>
            </a:extLst>
          </p:cNvPr>
          <p:cNvPicPr>
            <a:picLocks noChangeAspect="1"/>
          </p:cNvPicPr>
          <p:nvPr/>
        </p:nvPicPr>
        <p:blipFill>
          <a:blip r:embed="rId3"/>
          <a:stretch>
            <a:fillRect/>
          </a:stretch>
        </p:blipFill>
        <p:spPr>
          <a:xfrm>
            <a:off x="412955" y="564126"/>
            <a:ext cx="10186219" cy="5729748"/>
          </a:xfrm>
          <a:prstGeom prst="rect">
            <a:avLst/>
          </a:prstGeom>
        </p:spPr>
      </p:pic>
    </p:spTree>
    <p:extLst>
      <p:ext uri="{BB962C8B-B14F-4D97-AF65-F5344CB8AC3E}">
        <p14:creationId xmlns:p14="http://schemas.microsoft.com/office/powerpoint/2010/main" val="277250191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2" name="Google Shape;135;p5">
            <a:extLst>
              <a:ext uri="{FF2B5EF4-FFF2-40B4-BE49-F238E27FC236}">
                <a16:creationId xmlns:a16="http://schemas.microsoft.com/office/drawing/2014/main" id="{78578745-3233-E2C4-2AF4-55BA57C68D3F}"/>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lvl="0"/>
            <a:r>
              <a:rPr lang="en-US" sz="2400" b="1">
                <a:solidFill>
                  <a:schemeClr val="dk1"/>
                </a:solidFill>
                <a:latin typeface="Calibri"/>
                <a:ea typeface="Calibri"/>
                <a:cs typeface="Calibri"/>
                <a:sym typeface="Calibri"/>
              </a:rPr>
              <a:t>Architecture blueprint</a:t>
            </a:r>
            <a:endParaRPr lang="en-US" sz="2400"/>
          </a:p>
        </p:txBody>
      </p:sp>
      <p:pic>
        <p:nvPicPr>
          <p:cNvPr id="5" name="Picture 4">
            <a:extLst>
              <a:ext uri="{FF2B5EF4-FFF2-40B4-BE49-F238E27FC236}">
                <a16:creationId xmlns:a16="http://schemas.microsoft.com/office/drawing/2014/main" id="{11E69FC4-9071-6E0D-74FD-1AE3473023D2}"/>
              </a:ext>
            </a:extLst>
          </p:cNvPr>
          <p:cNvPicPr>
            <a:picLocks noChangeAspect="1"/>
          </p:cNvPicPr>
          <p:nvPr/>
        </p:nvPicPr>
        <p:blipFill>
          <a:blip r:embed="rId3"/>
          <a:stretch>
            <a:fillRect/>
          </a:stretch>
        </p:blipFill>
        <p:spPr>
          <a:xfrm>
            <a:off x="324465" y="900417"/>
            <a:ext cx="11677280" cy="5634344"/>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pic>
        <p:nvPicPr>
          <p:cNvPr id="196" name="Google Shape;196;p9"/>
          <p:cNvPicPr preferRelativeResize="0"/>
          <p:nvPr/>
        </p:nvPicPr>
        <p:blipFill rotWithShape="1">
          <a:blip r:embed="rId3">
            <a:alphaModFix/>
          </a:blip>
          <a:srcRect/>
          <a:stretch/>
        </p:blipFill>
        <p:spPr>
          <a:xfrm>
            <a:off x="8371985" y="1167493"/>
            <a:ext cx="3015343" cy="4523014"/>
          </a:xfrm>
          <a:prstGeom prst="rect">
            <a:avLst/>
          </a:prstGeom>
          <a:noFill/>
          <a:ln>
            <a:noFill/>
          </a:ln>
        </p:spPr>
      </p:pic>
      <p:sp>
        <p:nvSpPr>
          <p:cNvPr id="2" name="TextBox 1">
            <a:extLst>
              <a:ext uri="{FF2B5EF4-FFF2-40B4-BE49-F238E27FC236}">
                <a16:creationId xmlns:a16="http://schemas.microsoft.com/office/drawing/2014/main" id="{B84A7B44-8B20-5A39-ED43-DA98D0FC7976}"/>
              </a:ext>
            </a:extLst>
          </p:cNvPr>
          <p:cNvSpPr txBox="1"/>
          <p:nvPr/>
        </p:nvSpPr>
        <p:spPr>
          <a:xfrm>
            <a:off x="475488" y="283464"/>
            <a:ext cx="9317736" cy="584775"/>
          </a:xfrm>
          <a:prstGeom prst="rect">
            <a:avLst/>
          </a:prstGeom>
          <a:noFill/>
        </p:spPr>
        <p:txBody>
          <a:bodyPr wrap="square" rtlCol="0">
            <a:spAutoFit/>
          </a:bodyPr>
          <a:lstStyle/>
          <a:p>
            <a:r>
              <a:rPr lang="en-US" sz="3200" b="1" dirty="0"/>
              <a:t>Role of Agentic AI in the solution </a:t>
            </a:r>
            <a:endParaRPr lang="en-IN" sz="3200" b="1" dirty="0"/>
          </a:p>
        </p:txBody>
      </p:sp>
      <p:sp>
        <p:nvSpPr>
          <p:cNvPr id="3" name="TextBox 2">
            <a:extLst>
              <a:ext uri="{FF2B5EF4-FFF2-40B4-BE49-F238E27FC236}">
                <a16:creationId xmlns:a16="http://schemas.microsoft.com/office/drawing/2014/main" id="{322462E8-EB3A-DA7D-44CB-4E757803A755}"/>
              </a:ext>
            </a:extLst>
          </p:cNvPr>
          <p:cNvSpPr txBox="1"/>
          <p:nvPr/>
        </p:nvSpPr>
        <p:spPr>
          <a:xfrm>
            <a:off x="621792" y="1167493"/>
            <a:ext cx="7406640" cy="4401205"/>
          </a:xfrm>
          <a:prstGeom prst="rect">
            <a:avLst/>
          </a:prstGeom>
          <a:noFill/>
        </p:spPr>
        <p:txBody>
          <a:bodyPr wrap="square" rtlCol="0">
            <a:spAutoFit/>
          </a:bodyPr>
          <a:lstStyle/>
          <a:p>
            <a:r>
              <a:rPr lang="en-IN" b="1" dirty="0"/>
              <a:t>Role of Agentic AI in Social Media Agent</a:t>
            </a:r>
          </a:p>
          <a:p>
            <a:r>
              <a:rPr lang="en-IN" dirty="0"/>
              <a:t>Agentic AI enables the Social Media Agent to operate as an intelligent, autonomous system rather than a basic content generation tool. Using IBM watsonx.ai and IBM Granite models, it coordinates multiple specialized agents to manage social media tasks such as content creation, trend analysis, audience engagement, and performance monitoring.</a:t>
            </a:r>
          </a:p>
          <a:p>
            <a:r>
              <a:rPr lang="en-IN" dirty="0"/>
              <a:t>Each agent performs a specific role—such as </a:t>
            </a:r>
            <a:r>
              <a:rPr lang="en-IN" dirty="0" err="1"/>
              <a:t>analyzing</a:t>
            </a:r>
            <a:r>
              <a:rPr lang="en-IN" dirty="0"/>
              <a:t> audience </a:t>
            </a:r>
            <a:r>
              <a:rPr lang="en-IN" dirty="0" err="1"/>
              <a:t>behavior</a:t>
            </a:r>
            <a:r>
              <a:rPr lang="en-IN" dirty="0"/>
              <a:t>, generating creative posts, identifying trending topics, scheduling content, and evaluating engagement metrics—while collaborating with other agents. This multi-agent approach improves efficiency, maintains content quality, and ensures relevant and personalized social media strategies.</a:t>
            </a:r>
          </a:p>
          <a:p>
            <a:r>
              <a:rPr lang="en-IN" dirty="0"/>
              <a:t>Agentic AI provides context awareness by understanding brand identity, target audience, platform requirements, and user preferences to generate suitable content. It supports real-time adaptation by </a:t>
            </a:r>
            <a:r>
              <a:rPr lang="en-IN" dirty="0" err="1"/>
              <a:t>analyzing</a:t>
            </a:r>
            <a:r>
              <a:rPr lang="en-IN" dirty="0"/>
              <a:t> current trends, feedback, and engagement data to continuously improve recommendations and content strategies.</a:t>
            </a:r>
          </a:p>
          <a:p>
            <a:r>
              <a:rPr lang="en-IN" dirty="0"/>
              <a:t>Additionally, agents communicate and share insights with each other, enabling better decision-making, automated workflows, and optimized social media performance.</a:t>
            </a:r>
          </a:p>
          <a:p>
            <a:r>
              <a:rPr lang="en-IN" dirty="0"/>
              <a:t>Overall, Agentic AI transforms the Social Media Agent into a proactive, intelligent, and goal-oriented system that helps users create, manage, and optimize social media content effectively while improving audience interaction and online presence.</a:t>
            </a:r>
          </a:p>
          <a:p>
            <a:endParaRPr 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EEDEC80F-FA4E-F3FF-DE90-87B861D0BD1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FA184BA-BCF2-3D7B-30D0-0F3CF30C161B}"/>
              </a:ext>
            </a:extLst>
          </p:cNvPr>
          <p:cNvSpPr txBox="1"/>
          <p:nvPr/>
        </p:nvSpPr>
        <p:spPr>
          <a:xfrm>
            <a:off x="777240" y="484632"/>
            <a:ext cx="7123176" cy="461665"/>
          </a:xfrm>
          <a:prstGeom prst="rect">
            <a:avLst/>
          </a:prstGeom>
          <a:noFill/>
        </p:spPr>
        <p:txBody>
          <a:bodyPr wrap="square" rtlCol="0">
            <a:spAutoFit/>
          </a:bodyPr>
          <a:lstStyle/>
          <a:p>
            <a:r>
              <a:rPr lang="en-US" sz="2400" b="1" dirty="0"/>
              <a:t>Novelty and Uniqueness</a:t>
            </a:r>
            <a:endParaRPr lang="en-IN" sz="2400" b="1" dirty="0"/>
          </a:p>
        </p:txBody>
      </p:sp>
      <p:sp>
        <p:nvSpPr>
          <p:cNvPr id="3" name="TextBox 2">
            <a:extLst>
              <a:ext uri="{FF2B5EF4-FFF2-40B4-BE49-F238E27FC236}">
                <a16:creationId xmlns:a16="http://schemas.microsoft.com/office/drawing/2014/main" id="{ED65F54F-855A-0DB6-09A6-3212C5F7405B}"/>
              </a:ext>
            </a:extLst>
          </p:cNvPr>
          <p:cNvSpPr txBox="1"/>
          <p:nvPr/>
        </p:nvSpPr>
        <p:spPr>
          <a:xfrm>
            <a:off x="777240" y="1207008"/>
            <a:ext cx="11301984" cy="4985980"/>
          </a:xfrm>
          <a:prstGeom prst="rect">
            <a:avLst/>
          </a:prstGeom>
          <a:noFill/>
        </p:spPr>
        <p:txBody>
          <a:bodyPr wrap="square" rtlCol="0">
            <a:spAutoFit/>
          </a:bodyPr>
          <a:lstStyle/>
          <a:p>
            <a:r>
              <a:rPr lang="en-IN" sz="1600" dirty="0"/>
              <a:t>The proposed </a:t>
            </a:r>
            <a:r>
              <a:rPr lang="en-IN" sz="1600" b="1" dirty="0"/>
              <a:t>Social Media Agent</a:t>
            </a:r>
            <a:r>
              <a:rPr lang="en-IN" sz="1600" dirty="0"/>
              <a:t> stands out by combining </a:t>
            </a:r>
            <a:r>
              <a:rPr lang="en-IN" sz="1600" b="1" dirty="0"/>
              <a:t>Agentic AI, RAG, and personalization</a:t>
            </a:r>
            <a:r>
              <a:rPr lang="en-IN" sz="1600" dirty="0"/>
              <a:t> into a single intelligent content management system.</a:t>
            </a:r>
          </a:p>
          <a:p>
            <a:r>
              <a:rPr lang="en-IN" sz="1600" b="1" dirty="0"/>
              <a:t>Multi-Agent Intelligence</a:t>
            </a:r>
            <a:r>
              <a:rPr lang="en-IN" sz="1600" dirty="0"/>
              <a:t> – Instead of relying on a single content generation tool, multiple specialized agents collaborate to handle different social media tasks such as content creation, trend analysis, audience engagement, and performance monitoring.</a:t>
            </a:r>
          </a:p>
          <a:p>
            <a:r>
              <a:rPr lang="en-IN" sz="1600" b="1" dirty="0"/>
              <a:t>RAG-Based Accuracy</a:t>
            </a:r>
            <a:r>
              <a:rPr lang="en-IN" sz="1600" dirty="0"/>
              <a:t> – Integrates real-time information retrieval with AI generation to create relevant, up-to-date, and context-aware social media content while reducing outdated or inaccurate information.</a:t>
            </a:r>
          </a:p>
          <a:p>
            <a:r>
              <a:rPr lang="en-IN" sz="1600" b="1" dirty="0"/>
              <a:t>Hyper-Personalization</a:t>
            </a:r>
            <a:r>
              <a:rPr lang="en-IN" sz="1600" dirty="0"/>
              <a:t> – Generates customized posts and campaigns based on brand identity, target audience, platform requirements, user preferences, and engagement patterns.</a:t>
            </a:r>
          </a:p>
          <a:p>
            <a:r>
              <a:rPr lang="en-IN" sz="1600" b="1" dirty="0"/>
              <a:t>Real-Time Feedback Loop</a:t>
            </a:r>
            <a:r>
              <a:rPr lang="en-IN" sz="1600" dirty="0"/>
              <a:t> – Continuously improves content strategies by </a:t>
            </a:r>
            <a:r>
              <a:rPr lang="en-IN" sz="1600" dirty="0" err="1"/>
              <a:t>analyzing</a:t>
            </a:r>
            <a:r>
              <a:rPr lang="en-IN" sz="1600" dirty="0"/>
              <a:t> audience interactions, comments, trends, and performance metrics to optimize future posts.</a:t>
            </a:r>
          </a:p>
          <a:p>
            <a:r>
              <a:rPr lang="en-IN" sz="1600" b="1" dirty="0"/>
              <a:t>Multi-Modal Content Support</a:t>
            </a:r>
            <a:r>
              <a:rPr lang="en-IN" sz="1600" dirty="0"/>
              <a:t> – Supports text, image, and other media inputs to create engaging and diverse social media content suitable for different platforms.</a:t>
            </a:r>
          </a:p>
          <a:p>
            <a:r>
              <a:rPr lang="en-IN" sz="1600" b="1" dirty="0"/>
              <a:t>Trend-Aware Engagement</a:t>
            </a:r>
            <a:r>
              <a:rPr lang="en-IN" sz="1600" dirty="0"/>
              <a:t> – Goes beyond basic post generation by identifying emerging trends, </a:t>
            </a:r>
            <a:r>
              <a:rPr lang="en-IN" sz="1600" dirty="0" err="1"/>
              <a:t>analyzing</a:t>
            </a:r>
            <a:r>
              <a:rPr lang="en-IN" sz="1600" dirty="0"/>
              <a:t> audience sentiment, and recommending strategies to improve reach and engagement.</a:t>
            </a:r>
          </a:p>
          <a:p>
            <a:r>
              <a:rPr lang="en-IN" sz="1600" b="1" dirty="0"/>
              <a:t>Scalable &amp; Enterprise-Ready</a:t>
            </a:r>
            <a:r>
              <a:rPr lang="en-IN" sz="1600" dirty="0"/>
              <a:t> – Built on IBM watsonx.ai with IBM Granite models, ensuring reliable AI-driven content generation, governance, and secure deployment.</a:t>
            </a:r>
          </a:p>
          <a:p>
            <a:r>
              <a:rPr lang="en-IN" sz="1600" dirty="0"/>
              <a:t>This makes the solution a </a:t>
            </a:r>
            <a:r>
              <a:rPr lang="en-IN" sz="1600" b="1" dirty="0"/>
              <a:t>smart, adaptive, and proactive social media assistant</a:t>
            </a:r>
            <a:r>
              <a:rPr lang="en-IN" sz="1600" dirty="0"/>
              <a:t>, not just a content creation tool. It helps users automate workflows, enhance audience engagement, and make data-driven decisions for stronger digital presence.</a:t>
            </a:r>
          </a:p>
          <a:p>
            <a:endParaRPr lang="en-IN" dirty="0"/>
          </a:p>
        </p:txBody>
      </p:sp>
    </p:spTree>
    <p:extLst>
      <p:ext uri="{BB962C8B-B14F-4D97-AF65-F5344CB8AC3E}">
        <p14:creationId xmlns:p14="http://schemas.microsoft.com/office/powerpoint/2010/main" val="91796410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7BB3C0CA-2F24-30DF-1D65-4440B864F08E}"/>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187EEB9C-2E84-113A-3CE6-1507BF5B039F}"/>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a:sym typeface="Times New Roman"/>
              </a:rPr>
              <a:t>Git Hub Link</a:t>
            </a:r>
            <a:endParaRPr sz="2400" b="1">
              <a:sym typeface="Times New Roman"/>
            </a:endParaRPr>
          </a:p>
        </p:txBody>
      </p:sp>
      <p:sp>
        <p:nvSpPr>
          <p:cNvPr id="279" name="Google Shape;279;p18">
            <a:extLst>
              <a:ext uri="{FF2B5EF4-FFF2-40B4-BE49-F238E27FC236}">
                <a16:creationId xmlns:a16="http://schemas.microsoft.com/office/drawing/2014/main" id="{3711AF54-94A6-B837-31EF-9A8C4ECB9AF6}"/>
              </a:ext>
            </a:extLst>
          </p:cNvPr>
          <p:cNvSpPr/>
          <p:nvPr/>
        </p:nvSpPr>
        <p:spPr>
          <a:xfrm>
            <a:off x="1071240" y="1124746"/>
            <a:ext cx="9214580" cy="4277001"/>
          </a:xfrm>
          <a:prstGeom prst="rect">
            <a:avLst/>
          </a:prstGeom>
          <a:noFill/>
          <a:ln>
            <a:noFill/>
          </a:ln>
        </p:spPr>
        <p:txBody>
          <a:bodyPr spcFirstLastPara="1" wrap="square" lIns="0" tIns="0" rIns="0" bIns="0" anchor="t" anchorCtr="0">
            <a:noAutofit/>
          </a:bodyPr>
          <a:lstStyle/>
          <a:p>
            <a:pPr lvl="0">
              <a:lnSpc>
                <a:spcPct val="162162"/>
              </a:lnSpc>
              <a:buClr>
                <a:srgbClr val="2B3541"/>
              </a:buClr>
              <a:buSzPts val="1850"/>
            </a:pPr>
            <a:r>
              <a:rPr lang="en-US" sz="2000" b="1" i="0" u="none" strike="noStrike" cap="none" dirty="0">
                <a:solidFill>
                  <a:srgbClr val="000000"/>
                </a:solidFill>
                <a:latin typeface="+mj-lt"/>
                <a:ea typeface="Times New Roman"/>
                <a:cs typeface="Times New Roman"/>
                <a:sym typeface="Times New Roman"/>
              </a:rPr>
              <a:t>1.Website- </a:t>
            </a:r>
            <a:r>
              <a:rPr lang="en-IN" sz="2000" dirty="0"/>
              <a:t>https://ppravina250-ops.github.io/Social-Media/</a:t>
            </a:r>
            <a:endParaRPr sz="2000" b="1" i="0" u="none" strike="noStrike" cap="none" dirty="0">
              <a:solidFill>
                <a:srgbClr val="000000"/>
              </a:solidFill>
              <a:latin typeface="+mj-lt"/>
              <a:ea typeface="Times New Roman"/>
              <a:cs typeface="Times New Roman"/>
              <a:sym typeface="Times New Roman"/>
            </a:endParaRPr>
          </a:p>
        </p:txBody>
      </p:sp>
      <p:sp>
        <p:nvSpPr>
          <p:cNvPr id="280" name="Google Shape;280;p18">
            <a:extLst>
              <a:ext uri="{FF2B5EF4-FFF2-40B4-BE49-F238E27FC236}">
                <a16:creationId xmlns:a16="http://schemas.microsoft.com/office/drawing/2014/main" id="{E228982D-BF81-530A-CBA1-E897A3CA8EF7}"/>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7BC356B8-92F8-3187-D065-667AACF68E72}"/>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1558A011-60D6-B010-6117-1B9F7C786B2B}"/>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60585192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6FA0F82B-7EE5-EAB0-F470-130BDAC8254B}"/>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0668C6FD-577A-7288-5642-1AFC22BD04F2}"/>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a:sym typeface="Times New Roman"/>
              </a:rPr>
              <a:t>Future Scope </a:t>
            </a:r>
            <a:endParaRPr sz="2400" b="1">
              <a:sym typeface="Times New Roman"/>
            </a:endParaRPr>
          </a:p>
        </p:txBody>
      </p:sp>
      <p:sp>
        <p:nvSpPr>
          <p:cNvPr id="279" name="Google Shape;279;p18">
            <a:extLst>
              <a:ext uri="{FF2B5EF4-FFF2-40B4-BE49-F238E27FC236}">
                <a16:creationId xmlns:a16="http://schemas.microsoft.com/office/drawing/2014/main" id="{EAFA16CB-0A72-5AC5-69A0-ABF4A752B43F}"/>
              </a:ext>
            </a:extLst>
          </p:cNvPr>
          <p:cNvSpPr/>
          <p:nvPr/>
        </p:nvSpPr>
        <p:spPr>
          <a:xfrm>
            <a:off x="1218724" y="1221715"/>
            <a:ext cx="9214580" cy="4277001"/>
          </a:xfrm>
          <a:prstGeom prst="rect">
            <a:avLst/>
          </a:prstGeom>
          <a:noFill/>
          <a:ln>
            <a:noFill/>
          </a:ln>
        </p:spPr>
        <p:txBody>
          <a:bodyPr spcFirstLastPara="1" wrap="square" lIns="0" tIns="0" rIns="0" bIns="0" anchor="t" anchorCtr="0">
            <a:noAutofit/>
          </a:bodyPr>
          <a:lstStyle/>
          <a:p>
            <a:r>
              <a:rPr lang="en-IN" b="1" dirty="0"/>
              <a:t>1. Integration with Advanced Social Media Analytics &amp; Marketing Platforms –</a:t>
            </a:r>
            <a:br>
              <a:rPr lang="en-IN" dirty="0"/>
            </a:br>
            <a:r>
              <a:rPr lang="en-IN" dirty="0"/>
              <a:t>The system can be integrated with social media analytics tools and marketing platforms to collect real-time data such as audience engagement, follower growth, sentiment analysis, and content performance metrics. This will enable the Social Media Agent to provide more accurate insights, optimize content strategies, and recommend data-driven campaigns based on actual audience </a:t>
            </a:r>
            <a:r>
              <a:rPr lang="en-IN" dirty="0" err="1"/>
              <a:t>behavior</a:t>
            </a:r>
            <a:r>
              <a:rPr lang="en-IN" dirty="0"/>
              <a:t>.</a:t>
            </a:r>
          </a:p>
          <a:p>
            <a:r>
              <a:rPr lang="en-IN" b="1" dirty="0"/>
              <a:t>2. AI-Powered Voice Assistant &amp; Multilingual Content Generation –</a:t>
            </a:r>
            <a:br>
              <a:rPr lang="en-IN" dirty="0"/>
            </a:br>
            <a:r>
              <a:rPr lang="en-IN" dirty="0"/>
              <a:t>Enhancing the system with voice-enabled interaction and multilingual content generation will improve accessibility and usability. Users can create, manage, and optimize social media content in their preferred language through natural conversations, making the solution more inclusive for global audiences and diverse markets.</a:t>
            </a:r>
          </a:p>
          <a:p>
            <a:r>
              <a:rPr lang="en-IN" b="1" dirty="0"/>
              <a:t>3. Automated Content Scheduling &amp; Cross-Platform Management –</a:t>
            </a:r>
            <a:br>
              <a:rPr lang="en-IN" dirty="0"/>
            </a:br>
            <a:r>
              <a:rPr lang="en-IN" dirty="0"/>
              <a:t>The Social Media Agent can be enhanced to automatically schedule, publish, and manage content across multiple platforms. This will help users maintain consistent online presence while reducing manual effort and improving workflow efficiency.</a:t>
            </a:r>
          </a:p>
          <a:p>
            <a:r>
              <a:rPr lang="en-IN" b="1" dirty="0"/>
              <a:t>4. Advanced Sentiment Analysis &amp; Audience Insights –</a:t>
            </a:r>
            <a:br>
              <a:rPr lang="en-IN" dirty="0"/>
            </a:br>
            <a:r>
              <a:rPr lang="en-IN" dirty="0"/>
              <a:t>Future enhancements can include AI-driven sentiment analysis to understand audience reactions, identify emerging trends, and provide recommendations for improving engagement and brand communication strategies.</a:t>
            </a:r>
          </a:p>
          <a:p>
            <a:r>
              <a:rPr lang="en-IN" b="1" dirty="0"/>
              <a:t>5. Generative AI for Creative Media Production –</a:t>
            </a:r>
            <a:br>
              <a:rPr lang="en-IN" dirty="0"/>
            </a:br>
            <a:r>
              <a:rPr lang="en-IN" dirty="0"/>
              <a:t>The system can be extended with advanced generative AI capabilities to create high-quality images, videos, captions, and campaign ideas, enabling faster and more creative social media content development.</a:t>
            </a:r>
          </a:p>
          <a:p>
            <a:pPr marL="0" marR="0" lvl="0" indent="0" algn="l" rtl="0">
              <a:lnSpc>
                <a:spcPct val="162162"/>
              </a:lnSpc>
              <a:spcBef>
                <a:spcPts val="0"/>
              </a:spcBef>
              <a:spcAft>
                <a:spcPts val="0"/>
              </a:spcAft>
              <a:buClr>
                <a:srgbClr val="2B3541"/>
              </a:buClr>
              <a:buSzPts val="1850"/>
              <a:buFont typeface="Times New Roman"/>
              <a:buNone/>
            </a:pPr>
            <a:endParaRPr b="0" i="0" u="none" strike="noStrike" cap="none" dirty="0">
              <a:solidFill>
                <a:srgbClr val="000000"/>
              </a:solidFill>
              <a:latin typeface="Times New Roman"/>
              <a:ea typeface="Times New Roman"/>
              <a:cs typeface="Times New Roman"/>
              <a:sym typeface="Times New Roman"/>
            </a:endParaRPr>
          </a:p>
        </p:txBody>
      </p:sp>
      <p:sp>
        <p:nvSpPr>
          <p:cNvPr id="280" name="Google Shape;280;p18">
            <a:extLst>
              <a:ext uri="{FF2B5EF4-FFF2-40B4-BE49-F238E27FC236}">
                <a16:creationId xmlns:a16="http://schemas.microsoft.com/office/drawing/2014/main" id="{B888011B-E4AC-77DB-4A60-BE2C891C49F5}"/>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91F05971-9256-10B5-6575-4E7C679C6DAA}"/>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F1C3EBC2-438F-C150-9ABF-F14321C2CC5C}"/>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13670672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3F1C7BCA-5DD7-F4D3-A937-D1C56976DA01}"/>
              </a:ext>
            </a:extLst>
          </p:cNvPr>
          <p:cNvSpPr txBox="1"/>
          <p:nvPr/>
        </p:nvSpPr>
        <p:spPr>
          <a:xfrm>
            <a:off x="327949" y="207380"/>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a:t>Certificates Earned:</a:t>
            </a:r>
          </a:p>
          <a:p>
            <a:pPr algn="ctr"/>
            <a:endParaRPr lang="en-US"/>
          </a:p>
        </p:txBody>
      </p:sp>
      <p:sp>
        <p:nvSpPr>
          <p:cNvPr id="3" name="TextBox 2">
            <a:extLst>
              <a:ext uri="{FF2B5EF4-FFF2-40B4-BE49-F238E27FC236}">
                <a16:creationId xmlns:a16="http://schemas.microsoft.com/office/drawing/2014/main" id="{4837D5EE-379B-FDC5-0854-8AC81D31FADF}"/>
              </a:ext>
            </a:extLst>
          </p:cNvPr>
          <p:cNvSpPr txBox="1"/>
          <p:nvPr/>
        </p:nvSpPr>
        <p:spPr>
          <a:xfrm>
            <a:off x="552048" y="690061"/>
            <a:ext cx="6389965"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b="1"/>
              <a:t>Please  add your credly certificate </a:t>
            </a:r>
          </a:p>
        </p:txBody>
      </p:sp>
      <p:pic>
        <p:nvPicPr>
          <p:cNvPr id="4" name="Picture 3">
            <a:extLst>
              <a:ext uri="{FF2B5EF4-FFF2-40B4-BE49-F238E27FC236}">
                <a16:creationId xmlns:a16="http://schemas.microsoft.com/office/drawing/2014/main" id="{D078AA4A-8D9C-3FEA-4DA4-E54F0492BF17}"/>
              </a:ext>
            </a:extLst>
          </p:cNvPr>
          <p:cNvPicPr>
            <a:picLocks noChangeAspect="1"/>
          </p:cNvPicPr>
          <p:nvPr/>
        </p:nvPicPr>
        <p:blipFill>
          <a:blip r:embed="rId2"/>
          <a:stretch>
            <a:fillRect/>
          </a:stretch>
        </p:blipFill>
        <p:spPr>
          <a:xfrm>
            <a:off x="2048665" y="1463095"/>
            <a:ext cx="6682380" cy="4962286"/>
          </a:xfrm>
          <a:prstGeom prst="rect">
            <a:avLst/>
          </a:prstGeom>
        </p:spPr>
      </p:pic>
    </p:spTree>
    <p:extLst>
      <p:ext uri="{BB962C8B-B14F-4D97-AF65-F5344CB8AC3E}">
        <p14:creationId xmlns:p14="http://schemas.microsoft.com/office/powerpoint/2010/main" val="122904765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CA8544A9-CF92-3FAF-D3EE-31DF90F7A64D}"/>
              </a:ext>
            </a:extLst>
          </p:cNvPr>
          <p:cNvSpPr txBox="1"/>
          <p:nvPr/>
        </p:nvSpPr>
        <p:spPr>
          <a:xfrm>
            <a:off x="176696" y="226391"/>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i="0" u="none" strike="noStrike" baseline="0">
                <a:solidFill>
                  <a:srgbClr val="000000"/>
                </a:solidFill>
                <a:latin typeface="Arial"/>
              </a:rPr>
              <a:t>Certificates Earned:</a:t>
            </a:r>
            <a:r>
              <a:rPr sz="2400" b="0" i="0">
                <a:solidFill>
                  <a:srgbClr val="000000"/>
                </a:solidFill>
                <a:latin typeface="Arial"/>
                <a:ea typeface="Arial"/>
                <a:cs typeface="Arial"/>
              </a:rPr>
              <a:t>​</a:t>
            </a:r>
            <a:endParaRPr lang="en-US"/>
          </a:p>
          <a:p>
            <a:pPr algn="ctr"/>
            <a:endParaRPr lang="en-US"/>
          </a:p>
        </p:txBody>
      </p:sp>
      <p:sp>
        <p:nvSpPr>
          <p:cNvPr id="6" name="TextBox 5">
            <a:extLst>
              <a:ext uri="{FF2B5EF4-FFF2-40B4-BE49-F238E27FC236}">
                <a16:creationId xmlns:a16="http://schemas.microsoft.com/office/drawing/2014/main" id="{C0D36B1A-26C2-CD55-1032-4CB5E4EDF305}"/>
              </a:ext>
            </a:extLst>
          </p:cNvPr>
          <p:cNvSpPr txBox="1"/>
          <p:nvPr/>
        </p:nvSpPr>
        <p:spPr>
          <a:xfrm>
            <a:off x="496843" y="800470"/>
            <a:ext cx="5437681"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a:t>Add your IBM BOB Certificate</a:t>
            </a:r>
          </a:p>
        </p:txBody>
      </p:sp>
      <p:pic>
        <p:nvPicPr>
          <p:cNvPr id="3" name="Picture 2">
            <a:extLst>
              <a:ext uri="{FF2B5EF4-FFF2-40B4-BE49-F238E27FC236}">
                <a16:creationId xmlns:a16="http://schemas.microsoft.com/office/drawing/2014/main" id="{6F79BA3F-F3CD-176D-10A2-61BA15E54B3B}"/>
              </a:ext>
            </a:extLst>
          </p:cNvPr>
          <p:cNvPicPr>
            <a:picLocks noChangeAspect="1"/>
          </p:cNvPicPr>
          <p:nvPr/>
        </p:nvPicPr>
        <p:blipFill>
          <a:blip r:embed="rId2"/>
          <a:stretch>
            <a:fillRect/>
          </a:stretch>
        </p:blipFill>
        <p:spPr>
          <a:xfrm>
            <a:off x="1584652" y="1298702"/>
            <a:ext cx="7996797" cy="5185423"/>
          </a:xfrm>
          <a:prstGeom prst="rect">
            <a:avLst/>
          </a:prstGeom>
        </p:spPr>
      </p:pic>
    </p:spTree>
    <p:extLst>
      <p:ext uri="{BB962C8B-B14F-4D97-AF65-F5344CB8AC3E}">
        <p14:creationId xmlns:p14="http://schemas.microsoft.com/office/powerpoint/2010/main" val="250661074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pic>
        <p:nvPicPr>
          <p:cNvPr id="310" name="Google Shape;310;p20"/>
          <p:cNvPicPr preferRelativeResize="0"/>
          <p:nvPr/>
        </p:nvPicPr>
        <p:blipFill rotWithShape="1">
          <a:blip r:embed="rId3">
            <a:alphaModFix/>
          </a:blip>
          <a:srcRect/>
          <a:stretch/>
        </p:blipFill>
        <p:spPr>
          <a:xfrm>
            <a:off x="0" y="2190302"/>
            <a:ext cx="12192000" cy="2477396"/>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14</TotalTime>
  <Words>1701</Words>
  <Application>Microsoft Office PowerPoint</Application>
  <PresentationFormat>Widescreen</PresentationFormat>
  <Paragraphs>108</Paragraphs>
  <Slides>15</Slides>
  <Notes>12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15</vt:i4>
      </vt:variant>
    </vt:vector>
  </HeadingPairs>
  <TitlesOfParts>
    <vt:vector size="19" baseType="lpstr">
      <vt:lpstr>Arial</vt:lpstr>
      <vt:lpstr>Calibri</vt:lpstr>
      <vt:lpstr>Times New Roman</vt:lpstr>
      <vt:lpstr>Office Theme</vt:lpstr>
      <vt:lpstr>IBM University Engagement Project Submission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Manda Anirudh</dc:creator>
  <cp:lastModifiedBy>manaswi yerande</cp:lastModifiedBy>
  <cp:revision>17</cp:revision>
  <dcterms:created xsi:type="dcterms:W3CDTF">2025-07-08T05:06:56Z</dcterms:created>
  <dcterms:modified xsi:type="dcterms:W3CDTF">2026-07-18T07:27:44Z</dcterms:modified>
</cp:coreProperties>
</file>